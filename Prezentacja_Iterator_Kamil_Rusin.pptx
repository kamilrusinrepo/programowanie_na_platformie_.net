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6CD5D6-712A-6C50-C6B7-8B9F96781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04E0AF9-94FC-94FC-221B-7B8374AF3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B595AB1-CDFA-CDF3-728D-83EE1781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0BED836-E0A5-4114-E3ED-E1379111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579EE94-6C40-A142-DEFD-9AD43EA0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9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2E1E50-ED07-B5DA-800E-203DE722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2C88F3-B8A8-1FF7-5C89-01758A16C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7E1DF28-AB0B-4B19-79B1-01DF231B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867C96E-FFDB-A690-4357-4F4B460A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E54565-007D-E7E3-AB9D-CCF28907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00DF87-4944-35A0-230A-5339A069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0CEC847-A042-E8D4-1BC4-3E8368947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1A286B-9188-F5F3-B9BE-5C3728DA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00FBDF1-9A66-E7D5-841E-F2E717A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ABB77E2-9A5D-2AE1-1F05-8461D527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1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F80903-0B4D-E8A5-52AE-A4F2527E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9339E0-24C6-988B-2D8E-96A3CEC8A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2E2A09-B2A3-75BC-273A-C691D743D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A5ACBBB-98A8-187D-966B-7756D818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FB54CA1-D72D-0014-EEE5-9A8A39C5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7292716-8416-C68F-0C40-BBA51CCF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3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DDD057-EC23-AD70-ACF1-0E210200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1652865-D40E-5A30-77E1-03BF02821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397DCBB-4380-91B4-DC7A-C4487269E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B955248-3C43-F3C4-02F6-0AAFEB5B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D6764A8-3590-3B19-AE5A-96225B37B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24C57D4-7F70-FB02-072A-A4468E61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D45FADB-F589-A40C-9F03-DC6439607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C880F52-136D-7774-7C73-CA6729BD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7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16339E-E42E-7A53-55D4-918869C3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236B55F-B75F-3093-813B-E6B938ED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9C112C2-78EB-2A9B-9536-98102171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0149253-4C93-2D0C-F52F-A40CAE3D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2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185531C-1EA6-9C3C-2A90-C47C0669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EE73AC0-BC4A-1D29-F749-6FA81F99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821287F-4AA3-40FE-3E13-D662E8F2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FDB60A-A830-7523-5173-84CA6CA69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329AAE-E2E3-B7FA-BB8F-512F7BF8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6B1F72B-4ECD-495A-B224-6BA076228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E84BEEF-DAC5-83DB-5800-0A69D4F3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52B6AE0-68A5-BF57-DF5D-A172B6BB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D84BCE8-16E1-AA29-85DC-E5F73E5F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3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EDD3B8-C66F-A33A-5769-9AC3195BC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C6BA4F7-9680-2D36-4315-6834080DB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5F18160-75EB-85E4-B96A-CD29ECF3E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AF21AA8-6647-E977-F492-9416E5A6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117BC36-7D23-F04B-BB07-67F542B5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2DE491C-8402-9779-0E65-B21468BD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5E7279-F3F5-8F70-01B9-D9B18DD7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88281A4-FAB5-2082-E925-113F54A43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D1751EF-247B-606B-BE8D-D23A846C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0397C6-8C1D-783B-DE7E-C676BF98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67C8F63-A7B1-0078-D38C-44498DA1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8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0B7D5F0-8EAB-006D-2419-385E9DF05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196DCF3-668C-7580-DFBA-5907DDAD3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518E271-9F10-F82B-6E08-D6102305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AB6FBF-5049-0769-95D1-0587D506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47279D-A3C8-1300-6AD5-70BF76D3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7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CC34617-442C-D071-12A8-4C021B05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C84EA2A-946B-27C4-4119-5802B505E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2A6085F-5AB8-E465-95A6-5A5C17B93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6E549-E342-4AFB-88FA-58B1546D382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2CC44E-2101-B777-B338-6A85F37D8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E3C0366-4145-6E5A-2A85-7FF94593E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3E0A6-6FFE-4DE9-9053-B7C2AC0A9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96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DE3819-AD36-AF31-D898-250239F98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5809"/>
            <a:ext cx="9144000" cy="1278392"/>
          </a:xfrm>
        </p:spPr>
        <p:txBody>
          <a:bodyPr>
            <a:normAutofit/>
          </a:bodyPr>
          <a:lstStyle/>
          <a:p>
            <a:r>
              <a:rPr lang="pl-PL" sz="8000" b="1" dirty="0">
                <a:solidFill>
                  <a:schemeClr val="bg1"/>
                </a:solidFill>
              </a:rPr>
              <a:t>Iterator</a:t>
            </a:r>
            <a:endParaRPr lang="en-US" sz="8000" b="1" dirty="0">
              <a:solidFill>
                <a:schemeClr val="bg1"/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315A20C-40FB-1228-F6D5-BE344515A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514" y="5202238"/>
            <a:ext cx="9144000" cy="1655762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Wykonał: Kamil Rusin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6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1BE062-4246-6817-DE07-40E299AC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403576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Czym</a:t>
            </a:r>
            <a:r>
              <a:rPr lang="en-US" dirty="0">
                <a:solidFill>
                  <a:schemeClr val="bg1"/>
                </a:solidFill>
              </a:rPr>
              <a:t> jest </a:t>
            </a:r>
            <a:r>
              <a:rPr lang="en-US" dirty="0" err="1">
                <a:solidFill>
                  <a:schemeClr val="bg1"/>
                </a:solidFill>
              </a:rPr>
              <a:t>wzorzec</a:t>
            </a:r>
            <a:r>
              <a:rPr lang="en-US" dirty="0">
                <a:solidFill>
                  <a:schemeClr val="bg1"/>
                </a:solidFill>
              </a:rPr>
              <a:t> Iterator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F63FFBD-E9F9-D642-242E-28651AD5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7663"/>
            <a:ext cx="10515600" cy="18113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l-PL" b="1" dirty="0">
                <a:solidFill>
                  <a:schemeClr val="bg1"/>
                </a:solidFill>
              </a:rPr>
              <a:t>Iterator</a:t>
            </a:r>
            <a:r>
              <a:rPr lang="pl-PL" dirty="0">
                <a:solidFill>
                  <a:schemeClr val="bg1"/>
                </a:solidFill>
              </a:rPr>
              <a:t> to wzorzec behawioralny, który: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bg1"/>
                </a:solidFill>
              </a:rPr>
              <a:t>umożliwia sekwencyjne przechodzenie po elementach kolekcji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bg1"/>
                </a:solidFill>
              </a:rPr>
              <a:t>ukrywa wewnętrzną strukturę kolekcji przed klientem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bg1"/>
                </a:solidFill>
              </a:rPr>
              <a:t>pozwala korzystać z jednolitego interfejsu iteracji dla różnych kolekcji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14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68289C-C34A-87A8-155A-269F0263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4966"/>
          </a:xfrm>
        </p:spPr>
        <p:txBody>
          <a:bodyPr>
            <a:normAutofit/>
          </a:bodyPr>
          <a:lstStyle/>
          <a:p>
            <a:pPr algn="ctr"/>
            <a:r>
              <a:rPr lang="pl-PL" sz="5400" dirty="0">
                <a:solidFill>
                  <a:schemeClr val="bg1"/>
                </a:solidFill>
              </a:rPr>
              <a:t>Diagram UML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7" name="Obraz 6" descr="Obraz zawierający tekst, diagram, paragon, zrzut ekranu&#10;&#10;Zawartość wygenerowana przez AI może być niepoprawna.">
            <a:extLst>
              <a:ext uri="{FF2B5EF4-FFF2-40B4-BE49-F238E27FC236}">
                <a16:creationId xmlns:a16="http://schemas.microsoft.com/office/drawing/2014/main" id="{6E383644-6904-D83B-A62B-898191306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152" y="914966"/>
            <a:ext cx="7849695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1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A45F58-3E64-8FFB-20D5-444598898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Interfejs Iterator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Obraz 3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E50D3C75-24BF-9DD0-0D3B-E29618AD4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495" y="2166456"/>
            <a:ext cx="2629267" cy="2010056"/>
          </a:xfrm>
          <a:prstGeom prst="rect">
            <a:avLst/>
          </a:prstGeom>
        </p:spPr>
      </p:pic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731D7A2-DFBC-31A9-26CE-5E7B5BF2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53" y="1752061"/>
            <a:ext cx="3238952" cy="2838846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8EA545E9-773B-E8A3-A6BD-433BE1CDB6D5}"/>
              </a:ext>
            </a:extLst>
          </p:cNvPr>
          <p:cNvSpPr txBox="1"/>
          <p:nvPr/>
        </p:nvSpPr>
        <p:spPr>
          <a:xfrm>
            <a:off x="945358" y="4800800"/>
            <a:ext cx="10676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Interfejs </a:t>
            </a:r>
            <a:r>
              <a:rPr lang="pl-PL" sz="2400" b="1" dirty="0">
                <a:solidFill>
                  <a:schemeClr val="bg1"/>
                </a:solidFill>
              </a:rPr>
              <a:t>Iterator</a:t>
            </a:r>
            <a:r>
              <a:rPr lang="pl-PL" sz="2400" dirty="0">
                <a:solidFill>
                  <a:schemeClr val="bg1"/>
                </a:solidFill>
              </a:rPr>
              <a:t> deklaruje działania niezbędne do sekwencyjnego przechodzenia przez elementy kolekcji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47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09EC6B-AF10-21B3-0BBE-8ECADCEE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Interfejs </a:t>
            </a:r>
            <a:r>
              <a:rPr lang="pl-PL" dirty="0" err="1">
                <a:solidFill>
                  <a:schemeClr val="bg1"/>
                </a:solidFill>
              </a:rPr>
              <a:t>IterableCollection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Obraz 3" descr="Obraz zawierający tekst, Czcionka, biały, zrzut ekranu&#10;&#10;Zawartość wygenerowana przez AI może być niepoprawna.">
            <a:extLst>
              <a:ext uri="{FF2B5EF4-FFF2-40B4-BE49-F238E27FC236}">
                <a16:creationId xmlns:a16="http://schemas.microsoft.com/office/drawing/2014/main" id="{75E5209C-5153-A42D-52A5-0F821455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64" y="2484565"/>
            <a:ext cx="2857899" cy="1409897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0E257BFD-C80E-2832-867F-885CBB1914AB}"/>
              </a:ext>
            </a:extLst>
          </p:cNvPr>
          <p:cNvSpPr txBox="1"/>
          <p:nvPr/>
        </p:nvSpPr>
        <p:spPr>
          <a:xfrm>
            <a:off x="838200" y="4996543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dirty="0">
                <a:solidFill>
                  <a:schemeClr val="bg1"/>
                </a:solidFill>
              </a:rPr>
              <a:t>Interfejs </a:t>
            </a:r>
            <a:r>
              <a:rPr lang="pl-PL" sz="2000" b="1" dirty="0">
                <a:solidFill>
                  <a:schemeClr val="bg1"/>
                </a:solidFill>
              </a:rPr>
              <a:t>Kolekcja</a:t>
            </a:r>
            <a:r>
              <a:rPr lang="pl-PL" sz="2000" dirty="0">
                <a:solidFill>
                  <a:schemeClr val="bg1"/>
                </a:solidFill>
              </a:rPr>
              <a:t> deklaruje jedną lub więcej metod służących kompatybilności kolekcji z </a:t>
            </a:r>
            <a:r>
              <a:rPr lang="pl-PL" sz="2000" dirty="0" err="1">
                <a:solidFill>
                  <a:schemeClr val="bg1"/>
                </a:solidFill>
              </a:rPr>
              <a:t>iteratorami</a:t>
            </a:r>
            <a:r>
              <a:rPr lang="pl-PL" sz="2000" dirty="0">
                <a:solidFill>
                  <a:schemeClr val="bg1"/>
                </a:solidFill>
              </a:rPr>
              <a:t>. Zwracany typ metody musi być zadeklarowany jako interfejs </a:t>
            </a:r>
            <a:r>
              <a:rPr lang="pl-PL" sz="2000" dirty="0" err="1">
                <a:solidFill>
                  <a:schemeClr val="bg1"/>
                </a:solidFill>
              </a:rPr>
              <a:t>iterator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AD5D1B7C-D985-947F-8C5A-629FF392E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630" y="2360722"/>
            <a:ext cx="452500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10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30E78F-13AB-9159-3E79-A035672C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Klasa </a:t>
            </a:r>
            <a:r>
              <a:rPr lang="pl-PL" dirty="0" err="1">
                <a:solidFill>
                  <a:schemeClr val="bg1"/>
                </a:solidFill>
              </a:rPr>
              <a:t>ConcreteCollection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Obraz 3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FAE317B6-B6DC-84EB-A078-48DFC9C0E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16" y="2780216"/>
            <a:ext cx="2819794" cy="1829055"/>
          </a:xfrm>
          <a:prstGeom prst="rect">
            <a:avLst/>
          </a:prstGeom>
        </p:spPr>
      </p:pic>
      <p:pic>
        <p:nvPicPr>
          <p:cNvPr id="6" name="Obraz 5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108A7F4-9CBE-162C-DCC2-16E89B51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317" y="1436915"/>
            <a:ext cx="4874303" cy="451565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F3A45215-7399-C67F-C3C8-3B224166A8AB}"/>
              </a:ext>
            </a:extLst>
          </p:cNvPr>
          <p:cNvSpPr txBox="1"/>
          <p:nvPr/>
        </p:nvSpPr>
        <p:spPr>
          <a:xfrm>
            <a:off x="9035143" y="2780216"/>
            <a:ext cx="2084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bg1"/>
                </a:solidFill>
              </a:rPr>
              <a:t>Konkretne Kolekcje</a:t>
            </a:r>
            <a:r>
              <a:rPr lang="pl-PL" dirty="0">
                <a:solidFill>
                  <a:schemeClr val="bg1"/>
                </a:solidFill>
              </a:rPr>
              <a:t> zwracają nowe instancje klas </a:t>
            </a:r>
            <a:r>
              <a:rPr lang="pl-PL" dirty="0" err="1">
                <a:solidFill>
                  <a:schemeClr val="bg1"/>
                </a:solidFill>
              </a:rPr>
              <a:t>iteratorów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00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BD32A3-675E-76DE-BA43-D19EB451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Klasa </a:t>
            </a:r>
            <a:r>
              <a:rPr lang="pl-PL" dirty="0" err="1">
                <a:solidFill>
                  <a:schemeClr val="bg1"/>
                </a:solidFill>
              </a:rPr>
              <a:t>ConcreteIterator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Obraz 3" descr="Obraz zawierający tekst, Czcionka, zrzut ekranu, biały&#10;&#10;Zawartość wygenerowana przez AI może być niepoprawna.">
            <a:extLst>
              <a:ext uri="{FF2B5EF4-FFF2-40B4-BE49-F238E27FC236}">
                <a16:creationId xmlns:a16="http://schemas.microsoft.com/office/drawing/2014/main" id="{F80503A9-3B39-DF55-6090-3A6CB5727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3893"/>
            <a:ext cx="3362794" cy="2610214"/>
          </a:xfrm>
          <a:prstGeom prst="rect">
            <a:avLst/>
          </a:prstGeom>
        </p:spPr>
      </p:pic>
      <p:pic>
        <p:nvPicPr>
          <p:cNvPr id="6" name="Obraz 5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67CBC042-0C39-6FCE-3A8D-9DBA39A4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08" y="1030451"/>
            <a:ext cx="4553169" cy="5462424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F4D4AB30-00D2-6453-12C8-602AD17D487F}"/>
              </a:ext>
            </a:extLst>
          </p:cNvPr>
          <p:cNvSpPr txBox="1"/>
          <p:nvPr/>
        </p:nvSpPr>
        <p:spPr>
          <a:xfrm>
            <a:off x="9189591" y="2828835"/>
            <a:ext cx="2536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i="0" dirty="0">
                <a:solidFill>
                  <a:schemeClr val="bg1"/>
                </a:solidFill>
                <a:effectLst/>
                <a:latin typeface="PT Sans" panose="020B0503020203020204" pitchFamily="34" charset="-18"/>
              </a:rPr>
              <a:t>Konkretne </a:t>
            </a:r>
            <a:r>
              <a:rPr lang="pl-PL" b="1" i="0" dirty="0" err="1">
                <a:solidFill>
                  <a:schemeClr val="bg1"/>
                </a:solidFill>
                <a:effectLst/>
                <a:latin typeface="PT Sans" panose="020B0503020203020204" pitchFamily="34" charset="-18"/>
              </a:rPr>
              <a:t>Iteratory</a:t>
            </a:r>
            <a:r>
              <a:rPr lang="pl-PL" b="0" i="0" dirty="0">
                <a:solidFill>
                  <a:schemeClr val="bg1"/>
                </a:solidFill>
                <a:effectLst/>
                <a:latin typeface="PT Sans" panose="020B0503020203020204" pitchFamily="34" charset="-18"/>
              </a:rPr>
              <a:t> implementują specyficzne algorytmy przeglądania kolekcji.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C6651D-BC1D-E3CC-7367-6109E9622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Działanie wzorca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Obraz 3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CD76DAA9-6437-F13D-82CB-B9B65672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563"/>
            <a:ext cx="4630849" cy="5167312"/>
          </a:xfrm>
          <a:prstGeom prst="rect">
            <a:avLst/>
          </a:prstGeom>
        </p:spPr>
      </p:pic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4F48CF2E-7DD2-8587-CAC6-5518B8DD8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56559"/>
            <a:ext cx="509658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0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18AB4C-56E3-680B-2F67-31F6C890D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Zalety: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502C231-2116-550B-6364-E14EFB585A75}"/>
              </a:ext>
            </a:extLst>
          </p:cNvPr>
          <p:cNvSpPr txBox="1"/>
          <p:nvPr/>
        </p:nvSpPr>
        <p:spPr>
          <a:xfrm>
            <a:off x="838200" y="1367522"/>
            <a:ext cx="96882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b="0" i="0" dirty="0">
                <a:solidFill>
                  <a:schemeClr val="bg1"/>
                </a:solidFill>
                <a:effectLst/>
                <a:latin typeface="PT Sans" panose="020B0503020203020204" pitchFamily="34" charset="-18"/>
              </a:rPr>
              <a:t>Można uprzątnąć kod klienta i kolekcje, </a:t>
            </a:r>
            <a:r>
              <a:rPr lang="pl-PL" sz="2000" dirty="0">
                <a:solidFill>
                  <a:schemeClr val="bg1"/>
                </a:solidFill>
                <a:latin typeface="PT Sans" panose="020B0503020203020204" pitchFamily="34" charset="-18"/>
              </a:rPr>
              <a:t>przenosząc</a:t>
            </a:r>
            <a:r>
              <a:rPr lang="pl-PL" sz="2000" b="0" i="0" dirty="0">
                <a:solidFill>
                  <a:schemeClr val="bg1"/>
                </a:solidFill>
                <a:effectLst/>
                <a:latin typeface="PT Sans" panose="020B0503020203020204" pitchFamily="34" charset="-18"/>
              </a:rPr>
              <a:t> obszerny kod do osobnych klas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chemeClr val="bg1"/>
                </a:solidFill>
              </a:rPr>
              <a:t>Można zaimplementować nowe typy kolekcji i </a:t>
            </a:r>
            <a:r>
              <a:rPr lang="pl-PL" sz="2000" dirty="0" err="1">
                <a:solidFill>
                  <a:schemeClr val="bg1"/>
                </a:solidFill>
              </a:rPr>
              <a:t>iteratorów</a:t>
            </a:r>
            <a:r>
              <a:rPr lang="pl-PL" sz="2000" dirty="0">
                <a:solidFill>
                  <a:schemeClr val="bg1"/>
                </a:solidFill>
              </a:rPr>
              <a:t> oraz przekazywać je do istniejącego kodu bez psucia czegokolwiek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chemeClr val="bg1"/>
                </a:solidFill>
              </a:rPr>
              <a:t>Można przeglądać tę samą kolekcję równolegle wieloma </a:t>
            </a:r>
            <a:r>
              <a:rPr lang="pl-PL" sz="2000" dirty="0" err="1">
                <a:solidFill>
                  <a:schemeClr val="bg1"/>
                </a:solidFill>
              </a:rPr>
              <a:t>iteratorami</a:t>
            </a:r>
            <a:r>
              <a:rPr lang="pl-PL" sz="2000" dirty="0">
                <a:solidFill>
                  <a:schemeClr val="bg1"/>
                </a:solidFill>
              </a:rPr>
              <a:t>, gdyż każdy z nich przechowuje informacje o swoim stanie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207B811-4373-3934-91A5-4A060F995140}"/>
              </a:ext>
            </a:extLst>
          </p:cNvPr>
          <p:cNvSpPr txBox="1"/>
          <p:nvPr/>
        </p:nvSpPr>
        <p:spPr>
          <a:xfrm>
            <a:off x="838200" y="307780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Wady:</a:t>
            </a:r>
            <a:endParaRPr lang="en-US" sz="440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45F17A1-6D45-8242-5185-0C12AAA8075C}"/>
              </a:ext>
            </a:extLst>
          </p:cNvPr>
          <p:cNvSpPr txBox="1"/>
          <p:nvPr/>
        </p:nvSpPr>
        <p:spPr>
          <a:xfrm>
            <a:off x="838199" y="3847247"/>
            <a:ext cx="10003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b="0" i="0" dirty="0">
                <a:solidFill>
                  <a:schemeClr val="bg1"/>
                </a:solidFill>
                <a:effectLst/>
                <a:latin typeface="PT Sans" panose="020B0503020203020204" pitchFamily="34" charset="-18"/>
              </a:rPr>
              <a:t>Zastosowanie tego wzorca będzie przesadą jeśli aplikacja korzysta wyłącznie z prostych kolekcji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chemeClr val="bg1"/>
                </a:solidFill>
              </a:rPr>
              <a:t>Używanie </a:t>
            </a:r>
            <a:r>
              <a:rPr lang="pl-PL" sz="2000" dirty="0" err="1">
                <a:solidFill>
                  <a:schemeClr val="bg1"/>
                </a:solidFill>
              </a:rPr>
              <a:t>iteratora</a:t>
            </a:r>
            <a:r>
              <a:rPr lang="pl-PL" sz="2000" dirty="0">
                <a:solidFill>
                  <a:schemeClr val="bg1"/>
                </a:solidFill>
              </a:rPr>
              <a:t> może być mniej efektywne niż bezpośrednie przejście po elementach jakiejś wyspecjalizowanej kolekcji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84476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174</Words>
  <Application>Microsoft Office PowerPoint</Application>
  <PresentationFormat>Panoramiczny</PresentationFormat>
  <Paragraphs>24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PT Sans</vt:lpstr>
      <vt:lpstr>Motyw pakietu Office</vt:lpstr>
      <vt:lpstr>Iterator</vt:lpstr>
      <vt:lpstr>Czym jest wzorzec Iterator</vt:lpstr>
      <vt:lpstr>Diagram UML</vt:lpstr>
      <vt:lpstr>Interfejs Iterator</vt:lpstr>
      <vt:lpstr>Interfejs IterableCollection</vt:lpstr>
      <vt:lpstr>Klasa ConcreteCollection</vt:lpstr>
      <vt:lpstr>Klasa ConcreteIterator</vt:lpstr>
      <vt:lpstr>Działanie wzorca</vt:lpstr>
      <vt:lpstr>Zalety: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Rusin</dc:creator>
  <cp:lastModifiedBy>Kamil Rusin</cp:lastModifiedBy>
  <cp:revision>1</cp:revision>
  <dcterms:created xsi:type="dcterms:W3CDTF">2025-12-06T15:03:22Z</dcterms:created>
  <dcterms:modified xsi:type="dcterms:W3CDTF">2025-12-06T20:22:35Z</dcterms:modified>
</cp:coreProperties>
</file>